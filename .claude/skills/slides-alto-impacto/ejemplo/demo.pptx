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embeddedFontLst>
    <p:embeddedFont>
      <p:font typeface="Inter" pitchFamily="34" charset="0"/>
      <p:regular r:id="rId13"/>
      <p:bold r:id="rId14"/>
    </p:embeddedFont>
    <p:embeddedFont>
      <p:font typeface="Sora" pitchFamily="34" charset="0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Muestra</c:v>
                </c:pt>
              </c:strCache>
            </c:strRef>
          </c:tx>
          <c:spPr>
            <a:solidFill>
              <a:srgbClr val="38BDF8"/>
            </a:solidFill>
            <a:ln w="38100" cap="flat">
              <a:solidFill>
                <a:srgbClr val="38BDF8"/>
              </a:solidFill>
              <a:prstDash val="solid"/>
              <a:round/>
            </a:ln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F8FAFC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8BDF8"/>
              </a:solidFill>
              <a:ln w="9525" cap="flat">
                <a:solidFill>
                  <a:srgbClr val="38BDF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Ene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35</c:v>
                </c:pt>
                <c:pt idx="2">
                  <c:v>45</c:v>
                </c:pt>
                <c:pt idx="3">
                  <c:v>60</c:v>
                </c:pt>
                <c:pt idx="4">
                  <c:v>72</c:v>
                </c:pt>
                <c:pt idx="5">
                  <c:v>85</c:v>
                </c:pt>
              </c:numCache>
            </c:numRef>
          </c:val>
          <c:smooth val="1"/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F8FAFC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2E416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1120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B1120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deck existe solo para comprobar que la importación funciona. Los datos son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del arquetipo de dato protagonista.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del arquetipo de indicadores en fila.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 gráfico nativo con conclusión al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del arquetipo de proceso numerado.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demostración.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_barra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s1_kicker"/>
          <p:cNvSpPr txBox="1"/>
          <p:nvPr/>
        </p:nvSpPr>
        <p:spPr>
          <a:xfrm>
            <a:off x="777240" y="16916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TÉCNICA</a:t>
            </a:r>
            <a:endParaRPr lang="en-US" sz="1400" dirty="0"/>
          </a:p>
        </p:txBody>
      </p:sp>
      <p:sp>
        <p:nvSpPr>
          <p:cNvPr id="4" name="s1_titulo"/>
          <p:cNvSpPr txBox="1"/>
          <p:nvPr/>
        </p:nvSpPr>
        <p:spPr>
          <a:xfrm>
            <a:off x="777240" y="2103120"/>
            <a:ext cx="723330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100" b="1" spc="-102" kern="0" dirty="0">
                <a:solidFill>
                  <a:srgbClr val="F8FAF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Deck de demostración de la skill</a:t>
            </a:r>
            <a:endParaRPr lang="en-US" sz="5100" dirty="0"/>
          </a:p>
        </p:txBody>
      </p:sp>
      <p:sp>
        <p:nvSpPr>
          <p:cNvPr id="5" name="s1_subtitulo"/>
          <p:cNvSpPr txBox="1"/>
          <p:nvPr/>
        </p:nvSpPr>
        <p:spPr>
          <a:xfrm>
            <a:off x="777240" y="4206240"/>
            <a:ext cx="76587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 genérico para verificar la importación a Canva</a:t>
            </a:r>
            <a:endParaRPr lang="en-US" sz="2400" dirty="0"/>
          </a:p>
        </p:txBody>
      </p:sp>
      <p:pic>
        <p:nvPicPr>
          <p:cNvPr id="6" name="s1_icono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9677095" y="2148840"/>
            <a:ext cx="1600200" cy="1600200"/>
          </a:xfrm>
          <a:prstGeom prst="rect">
            <a:avLst/>
          </a:prstGeom>
        </p:spPr>
      </p:pic>
    </p:spTree>
  </p:cSld>
  <p:clrMapOvr>
    <a:masterClrMapping/>
  </p:clrMapOvr>
  <p:transition spd="med" advTm="0">
    <p:fade/>
  </p:transition>
  <p:timing>
    <p:tnLst>
      <p:par>
        <p:cTn id="22" nodeType="tmRoot" restart="never">
          <p:childTnLst>
            <p:seq concurrent="1" nextAc="seek">
              <p:cTn id="23" nodeType="mainSeq" restart="whenNotActive">
                <p:childTnLst>
                  <p:par>
                    <p:cTn id="24" fill="hold"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5" dur="600" fill="hold" decel="6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" presetID="1" presetClass="entr" presetSubtype="0" fill="hold" nodeType="afterEffect">
                                  <p:stCondLst>
                                    <p:cond delay="22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9" dur="600" fill="hold" decel="6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afterEffect">
                                  <p:stCondLst>
                                    <p:cond delay="44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13" dur="600" fill="hold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after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17" dur="600" fill="hold" decel="6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afterEffect">
                                  <p:stCondLst>
                                    <p:cond delay="88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21" dur="600" fill="hold" decel="6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kicker"/>
          <p:cNvSpPr txBox="1"/>
          <p:nvPr/>
        </p:nvSpPr>
        <p:spPr>
          <a:xfrm>
            <a:off x="777240" y="64008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DE DATO</a:t>
            </a:r>
            <a:endParaRPr lang="en-US" sz="1400" dirty="0"/>
          </a:p>
        </p:txBody>
      </p:sp>
      <p:sp>
        <p:nvSpPr>
          <p:cNvPr id="3" name="s2_valor"/>
          <p:cNvSpPr txBox="1"/>
          <p:nvPr/>
        </p:nvSpPr>
        <p:spPr>
          <a:xfrm>
            <a:off x="777240" y="1600200"/>
            <a:ext cx="6595073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100"/>
              </a:lnSpc>
              <a:buNone/>
            </a:pPr>
            <a:r>
              <a:rPr lang="en-US" sz="14000" b="1" spc="-400" kern="0" dirty="0">
                <a:solidFill>
                  <a:srgbClr val="38BDF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16</a:t>
            </a:r>
            <a:endParaRPr lang="en-US" sz="14000" dirty="0"/>
          </a:p>
        </p:txBody>
      </p:sp>
      <p:sp>
        <p:nvSpPr>
          <p:cNvPr id="4" name="s2_etiqueta"/>
          <p:cNvSpPr txBox="1"/>
          <p:nvPr/>
        </p:nvSpPr>
        <p:spPr>
          <a:xfrm>
            <a:off x="777240" y="3886200"/>
            <a:ext cx="65950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Arquetipos de slide disponibles</a:t>
            </a:r>
            <a:endParaRPr lang="en-US" sz="2400" dirty="0"/>
          </a:p>
        </p:txBody>
      </p:sp>
      <p:sp>
        <p:nvSpPr>
          <p:cNvPr id="5" name="s2_delta_caja"/>
          <p:cNvSpPr/>
          <p:nvPr/>
        </p:nvSpPr>
        <p:spPr>
          <a:xfrm>
            <a:off x="777240" y="4800600"/>
            <a:ext cx="2286000" cy="566928"/>
          </a:xfrm>
          <a:prstGeom prst="roundRect">
            <a:avLst>
              <a:gd name="adj" fmla="val 50000"/>
            </a:avLst>
          </a:prstGeom>
          <a:solidFill>
            <a:srgbClr val="34D399">
              <a:alpha val="14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2_delta"/>
          <p:cNvSpPr txBox="1"/>
          <p:nvPr/>
        </p:nvSpPr>
        <p:spPr>
          <a:xfrm>
            <a:off x="777240" y="48006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verificados</a:t>
            </a:r>
            <a:endParaRPr lang="en-US" sz="1300" dirty="0"/>
          </a:p>
        </p:txBody>
      </p:sp>
      <p:sp>
        <p:nvSpPr>
          <p:cNvPr id="7" name="s2_panel"/>
          <p:cNvSpPr/>
          <p:nvPr/>
        </p:nvSpPr>
        <p:spPr>
          <a:xfrm>
            <a:off x="7665415" y="2011680"/>
            <a:ext cx="3749040" cy="2743200"/>
          </a:xfrm>
          <a:prstGeom prst="roundRect">
            <a:avLst>
              <a:gd name="adj" fmla="val 9333"/>
            </a:avLst>
          </a:prstGeom>
          <a:solidFill>
            <a:srgbClr val="1B2942"/>
          </a:solidFill>
          <a:ln w="12700">
            <a:solidFill>
              <a:srgbClr val="2E41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</p:sp>
      <p:sp>
        <p:nvSpPr>
          <p:cNvPr id="8" name="s2_conclusion"/>
          <p:cNvSpPr txBox="1"/>
          <p:nvPr/>
        </p:nvSpPr>
        <p:spPr>
          <a:xfrm>
            <a:off x="7985455" y="228600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arquetipo resuelve un tipo distinto de mensaje: cifras, comparaciones, procesos, secuencias.</a:t>
            </a:r>
            <a:endParaRPr lang="en-US" sz="2000" dirty="0"/>
          </a:p>
        </p:txBody>
      </p:sp>
      <p:sp>
        <p:nvSpPr>
          <p:cNvPr id="9" name="s2_num"/>
          <p:cNvSpPr txBox="1"/>
          <p:nvPr/>
        </p:nvSpPr>
        <p:spPr>
          <a:xfrm>
            <a:off x="114144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8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advTm="0" p14:dur="1200">
        <p159:morph option="byObject"/>
      </p:transition>
    </mc:Choice>
    <mc:Fallback>
      <p:transition spd="slow" advTm="0">
        <p:fade/>
      </p:transition>
    </mc:Fallback>
  </mc:AlternateContent>
  <p:timing>
    <p:tnLst>
      <p:par>
        <p:cTn id="32" nodeType="tmRoot" restart="never">
          <p:childTnLst>
            <p:seq concurrent="1" nextAc="seek">
              <p:cTn id="33" nodeType="mainSeq" restart="whenNotActive">
                <p:childTnLst>
                  <p:par>
                    <p:cTn id="34" fill="hold"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" dur="500" fill="hold" decel="50000"/>
                                        <p:tgtEl>
                                          <p:spTgt spid="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" presetID="1" presetClass="entr" presetSubtype="0" fill="hold" nodeType="after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fill="hold" decel="50000"/>
                                        <p:tgtEl>
                                          <p:spTgt spid="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after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fill="hold" decel="50000"/>
                                        <p:tgtEl>
                                          <p:spTgt spid="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after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fill="hold" decel="50000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afterEffect">
                                  <p:stCondLst>
                                    <p:cond delay="104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500" fill="hold" decel="50000"/>
                                        <p:tgtEl>
                                          <p:spTgt spid="6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after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500" fill="hold" decel="50000"/>
                                        <p:tgtEl>
                                          <p:spTgt spid="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afterEffect">
                                  <p:stCondLst>
                                    <p:cond delay="156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500" fill="hold" decel="50000"/>
                                        <p:tgtEl>
                                          <p:spTgt spid="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" presetClass="emph" fill="hold" nodeType="afterEffect">
                                  <p:stCondLst>
                                    <p:cond delay="2020"/>
                                  </p:stCondLst>
                                  <p:childTnLst>
                                    <p:animScale>
                                      <p:cBhvr>
                                        <p:cTn id="31" dur="350" fill="remove" autoRev="1"/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kicker"/>
          <p:cNvSpPr txBox="1"/>
          <p:nvPr/>
        </p:nvSpPr>
        <p:spPr>
          <a:xfrm>
            <a:off x="777240" y="64008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DE INDICADORES</a:t>
            </a:r>
            <a:endParaRPr lang="en-US" sz="1400" dirty="0"/>
          </a:p>
        </p:txBody>
      </p:sp>
      <p:sp>
        <p:nvSpPr>
          <p:cNvPr id="3" name="s3_titulo"/>
          <p:cNvSpPr txBox="1"/>
          <p:nvPr/>
        </p:nvSpPr>
        <p:spPr>
          <a:xfrm>
            <a:off x="777240" y="96012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spc="-60" kern="0" dirty="0">
                <a:solidFill>
                  <a:srgbClr val="F8FAF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Cuatro métricas de ejemplo</a:t>
            </a:r>
            <a:endParaRPr lang="en-US" sz="4000" dirty="0"/>
          </a:p>
        </p:txBody>
      </p:sp>
      <p:sp>
        <p:nvSpPr>
          <p:cNvPr id="4" name="s3_kpi0_caja"/>
          <p:cNvSpPr/>
          <p:nvPr/>
        </p:nvSpPr>
        <p:spPr>
          <a:xfrm>
            <a:off x="777240" y="2286000"/>
            <a:ext cx="2384984" cy="2743200"/>
          </a:xfrm>
          <a:prstGeom prst="roundRect">
            <a:avLst>
              <a:gd name="adj" fmla="val 10735"/>
            </a:avLst>
          </a:prstGeom>
          <a:solidFill>
            <a:srgbClr val="1B2942"/>
          </a:solidFill>
          <a:ln w="12700">
            <a:solidFill>
              <a:srgbClr val="2E41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</p:sp>
      <p:sp>
        <p:nvSpPr>
          <p:cNvPr id="5" name="s3_kpi0_barra"/>
          <p:cNvSpPr/>
          <p:nvPr/>
        </p:nvSpPr>
        <p:spPr>
          <a:xfrm>
            <a:off x="777240" y="2286000"/>
            <a:ext cx="2384984" cy="82296"/>
          </a:xfrm>
          <a:prstGeom prst="rect">
            <a:avLst/>
          </a:prstGeom>
          <a:solidFill>
            <a:srgbClr val="38BDF8"/>
          </a:solidFill>
          <a:ln/>
        </p:spPr>
      </p:sp>
      <p:pic>
        <p:nvPicPr>
          <p:cNvPr id="6" name="s3_kpi0_icon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606040"/>
            <a:ext cx="548640" cy="548640"/>
          </a:xfrm>
          <a:prstGeom prst="rect">
            <a:avLst/>
          </a:prstGeom>
        </p:spPr>
      </p:pic>
      <p:sp>
        <p:nvSpPr>
          <p:cNvPr id="7" name="s3_kpi0_valor"/>
          <p:cNvSpPr txBox="1"/>
          <p:nvPr/>
        </p:nvSpPr>
        <p:spPr>
          <a:xfrm>
            <a:off x="1033272" y="3200400"/>
            <a:ext cx="187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500"/>
              </a:lnSpc>
              <a:buNone/>
            </a:pPr>
            <a:r>
              <a:rPr lang="en-US" sz="5400" b="1" spc="-150" kern="0" dirty="0">
                <a:solidFill>
                  <a:srgbClr val="38BDF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250k</a:t>
            </a:r>
            <a:endParaRPr lang="en-US" sz="5400" dirty="0"/>
          </a:p>
        </p:txBody>
      </p:sp>
      <p:sp>
        <p:nvSpPr>
          <p:cNvPr id="8" name="s3_kpi0_texto"/>
          <p:cNvSpPr txBox="1"/>
          <p:nvPr/>
        </p:nvSpPr>
        <p:spPr>
          <a:xfrm>
            <a:off x="1033272" y="4114800"/>
            <a:ext cx="187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Iconos disponibles</a:t>
            </a:r>
            <a:endParaRPr lang="en-US" sz="1600" dirty="0"/>
          </a:p>
        </p:txBody>
      </p:sp>
      <p:sp>
        <p:nvSpPr>
          <p:cNvPr id="9" name="s3_kpi1_caja"/>
          <p:cNvSpPr/>
          <p:nvPr/>
        </p:nvSpPr>
        <p:spPr>
          <a:xfrm>
            <a:off x="3527984" y="2286000"/>
            <a:ext cx="2384984" cy="2743200"/>
          </a:xfrm>
          <a:prstGeom prst="roundRect">
            <a:avLst>
              <a:gd name="adj" fmla="val 10735"/>
            </a:avLst>
          </a:prstGeom>
          <a:solidFill>
            <a:srgbClr val="1B2942"/>
          </a:solidFill>
          <a:ln w="12700">
            <a:solidFill>
              <a:srgbClr val="2E41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</p:sp>
      <p:sp>
        <p:nvSpPr>
          <p:cNvPr id="10" name="s3_kpi1_barra"/>
          <p:cNvSpPr/>
          <p:nvPr/>
        </p:nvSpPr>
        <p:spPr>
          <a:xfrm>
            <a:off x="3527984" y="2286000"/>
            <a:ext cx="2384984" cy="82296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1" name="s3_kpi1_icono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2606040"/>
            <a:ext cx="548640" cy="548640"/>
          </a:xfrm>
          <a:prstGeom prst="rect">
            <a:avLst/>
          </a:prstGeom>
        </p:spPr>
      </p:pic>
      <p:sp>
        <p:nvSpPr>
          <p:cNvPr id="12" name="s3_kpi1_valor"/>
          <p:cNvSpPr txBox="1"/>
          <p:nvPr/>
        </p:nvSpPr>
        <p:spPr>
          <a:xfrm>
            <a:off x="3784016" y="3200400"/>
            <a:ext cx="187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500"/>
              </a:lnSpc>
              <a:buNone/>
            </a:pPr>
            <a:r>
              <a:rPr lang="en-US" sz="5400" b="1" spc="-150" kern="0" dirty="0">
                <a:solidFill>
                  <a:srgbClr val="A78BFA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3457</a:t>
            </a:r>
            <a:endParaRPr lang="en-US" sz="5400" dirty="0"/>
          </a:p>
        </p:txBody>
      </p:sp>
      <p:sp>
        <p:nvSpPr>
          <p:cNvPr id="13" name="s3_kpi1_texto"/>
          <p:cNvSpPr txBox="1"/>
          <p:nvPr/>
        </p:nvSpPr>
        <p:spPr>
          <a:xfrm>
            <a:off x="3784016" y="4114800"/>
            <a:ext cx="187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Logos de marca</a:t>
            </a:r>
            <a:endParaRPr lang="en-US" sz="1600" dirty="0"/>
          </a:p>
        </p:txBody>
      </p:sp>
      <p:sp>
        <p:nvSpPr>
          <p:cNvPr id="14" name="s3_kpi2_caja"/>
          <p:cNvSpPr/>
          <p:nvPr/>
        </p:nvSpPr>
        <p:spPr>
          <a:xfrm>
            <a:off x="6278728" y="2286000"/>
            <a:ext cx="2384984" cy="2743200"/>
          </a:xfrm>
          <a:prstGeom prst="roundRect">
            <a:avLst>
              <a:gd name="adj" fmla="val 10735"/>
            </a:avLst>
          </a:prstGeom>
          <a:solidFill>
            <a:srgbClr val="1B2942"/>
          </a:solidFill>
          <a:ln w="12700">
            <a:solidFill>
              <a:srgbClr val="2E41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</p:sp>
      <p:sp>
        <p:nvSpPr>
          <p:cNvPr id="15" name="s3_kpi2_barra"/>
          <p:cNvSpPr/>
          <p:nvPr/>
        </p:nvSpPr>
        <p:spPr>
          <a:xfrm>
            <a:off x="6278728" y="2286000"/>
            <a:ext cx="2384984" cy="82296"/>
          </a:xfrm>
          <a:prstGeom prst="rect">
            <a:avLst/>
          </a:prstGeom>
          <a:solidFill>
            <a:srgbClr val="34D399"/>
          </a:solidFill>
          <a:ln/>
        </p:spPr>
      </p:sp>
      <p:pic>
        <p:nvPicPr>
          <p:cNvPr id="16" name="s3_kpi2_icono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048" y="2606040"/>
            <a:ext cx="548640" cy="548640"/>
          </a:xfrm>
          <a:prstGeom prst="rect">
            <a:avLst/>
          </a:prstGeom>
        </p:spPr>
      </p:pic>
      <p:sp>
        <p:nvSpPr>
          <p:cNvPr id="17" name="s3_kpi2_valor"/>
          <p:cNvSpPr txBox="1"/>
          <p:nvPr/>
        </p:nvSpPr>
        <p:spPr>
          <a:xfrm>
            <a:off x="6534760" y="3200400"/>
            <a:ext cx="187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500"/>
              </a:lnSpc>
              <a:buNone/>
            </a:pPr>
            <a:r>
              <a:rPr lang="en-US" sz="5400" b="1" spc="-150" kern="0" dirty="0">
                <a:solidFill>
                  <a:srgbClr val="34D399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7</a:t>
            </a:r>
            <a:endParaRPr lang="en-US" sz="5400" dirty="0"/>
          </a:p>
        </p:txBody>
      </p:sp>
      <p:sp>
        <p:nvSpPr>
          <p:cNvPr id="18" name="s3_kpi2_texto"/>
          <p:cNvSpPr txBox="1"/>
          <p:nvPr/>
        </p:nvSpPr>
        <p:spPr>
          <a:xfrm>
            <a:off x="6534760" y="4114800"/>
            <a:ext cx="187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Temas visuales</a:t>
            </a:r>
            <a:endParaRPr lang="en-US" sz="1600" dirty="0"/>
          </a:p>
        </p:txBody>
      </p:sp>
      <p:sp>
        <p:nvSpPr>
          <p:cNvPr id="19" name="s3_kpi3_caja"/>
          <p:cNvSpPr/>
          <p:nvPr/>
        </p:nvSpPr>
        <p:spPr>
          <a:xfrm>
            <a:off x="9029471" y="2286000"/>
            <a:ext cx="2384984" cy="2743200"/>
          </a:xfrm>
          <a:prstGeom prst="roundRect">
            <a:avLst>
              <a:gd name="adj" fmla="val 10735"/>
            </a:avLst>
          </a:prstGeom>
          <a:solidFill>
            <a:srgbClr val="1B2942"/>
          </a:solidFill>
          <a:ln w="12700">
            <a:solidFill>
              <a:srgbClr val="2E416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55000"/>
              </a:srgbClr>
            </a:outerShdw>
          </a:effectLst>
        </p:spPr>
      </p:sp>
      <p:sp>
        <p:nvSpPr>
          <p:cNvPr id="20" name="s3_kpi3_barra"/>
          <p:cNvSpPr/>
          <p:nvPr/>
        </p:nvSpPr>
        <p:spPr>
          <a:xfrm>
            <a:off x="9029471" y="2286000"/>
            <a:ext cx="2384984" cy="82296"/>
          </a:xfrm>
          <a:prstGeom prst="rect">
            <a:avLst/>
          </a:prstGeom>
          <a:solidFill>
            <a:srgbClr val="FBBF24"/>
          </a:solidFill>
          <a:ln/>
        </p:spPr>
      </p:sp>
      <p:pic>
        <p:nvPicPr>
          <p:cNvPr id="21" name="s3_kpi3_icon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3791" y="2606040"/>
            <a:ext cx="548640" cy="548640"/>
          </a:xfrm>
          <a:prstGeom prst="rect">
            <a:avLst/>
          </a:prstGeom>
        </p:spPr>
      </p:pic>
      <p:sp>
        <p:nvSpPr>
          <p:cNvPr id="22" name="s3_kpi3_valor"/>
          <p:cNvSpPr txBox="1"/>
          <p:nvPr/>
        </p:nvSpPr>
        <p:spPr>
          <a:xfrm>
            <a:off x="9285503" y="3200400"/>
            <a:ext cx="187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500"/>
              </a:lnSpc>
              <a:buNone/>
            </a:pPr>
            <a:r>
              <a:rPr lang="en-US" sz="5400" b="1" spc="-150" kern="0" dirty="0">
                <a:solidFill>
                  <a:srgbClr val="FBBF24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100%</a:t>
            </a:r>
            <a:endParaRPr lang="en-US" sz="5400" dirty="0"/>
          </a:p>
        </p:txBody>
      </p:sp>
      <p:sp>
        <p:nvSpPr>
          <p:cNvPr id="23" name="s3_kpi3_texto"/>
          <p:cNvSpPr txBox="1"/>
          <p:nvPr/>
        </p:nvSpPr>
        <p:spPr>
          <a:xfrm>
            <a:off x="9285503" y="4114800"/>
            <a:ext cx="187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Cobertura de QA</a:t>
            </a:r>
            <a:endParaRPr lang="en-US" sz="1600" dirty="0"/>
          </a:p>
        </p:txBody>
      </p:sp>
      <p:sp>
        <p:nvSpPr>
          <p:cNvPr id="24" name="s3_num"/>
          <p:cNvSpPr txBox="1"/>
          <p:nvPr/>
        </p:nvSpPr>
        <p:spPr>
          <a:xfrm>
            <a:off x="114144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8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advTm="0" p14:dur="1200">
        <p159:morph option="byObject"/>
      </p:transition>
    </mc:Choice>
    <mc:Fallback>
      <p:transition spd="slow" advTm="0">
        <p:fade/>
      </p:transition>
    </mc:Fallback>
  </mc:AlternateContent>
  <p:timing>
    <p:tnLst>
      <p:par>
        <p:cTn id="58" nodeType="tmRoot" restart="never">
          <p:childTnLst>
            <p:seq concurrent="1" nextAc="seek">
              <p:cTn id="59" nodeType="mainSeq" restart="whenNotActive">
                <p:childTnLst>
                  <p:par>
                    <p:cTn id="60" fill="hold"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6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5" dur="600" fill="hold" decel="60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" presetID="1" presetClass="entr" presetSubtype="0" fill="hold" nodeType="after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6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9" dur="600" fill="hold" decel="6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after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13" dur="600" fill="hold" decel="6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17" dur="600" fill="hold" decel="6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after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21" dur="600" fill="hold" decel="6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25" dur="600" fill="hold" decel="6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afterEffect">
                                  <p:stCondLst>
                                    <p:cond delay="96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29" dur="600" fill="hold" decel="6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1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33" dur="600" fill="hold" decel="6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afterEffect">
                                  <p:stCondLst>
                                    <p:cond delay="1280"/>
                                  </p:stCondLst>
                                  <p:childTnLst>
                                    <p:set>
                                      <p:cBhvr>
                                        <p:cTn id="35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37" dur="600" fill="hold" decel="6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afterEffect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41" dur="600" fill="hold" decel="6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after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45" dur="600" fill="hold" decel="6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afterEffect">
                                  <p:stCondLst>
                                    <p:cond delay="1760"/>
                                  </p:stCondLst>
                                  <p:childTnLst>
                                    <p:set>
                                      <p:cBhvr>
                                        <p:cTn id="47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49" dur="600" fill="hold" decel="6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afterEffect">
                                  <p:stCondLst>
                                    <p:cond delay="192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53" dur="600" fill="hold" decel="6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afterEffect">
                                  <p:stCondLst>
                                    <p:cond delay="2080"/>
                                  </p:stCondLst>
                                  <p:childTnLst>
                                    <p:set>
                                      <p:cBhvr>
                                        <p:cTn id="55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 fill="hold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Motion origin="layout" pathEditMode="relative" path="M 0 0.08 L 0 0">
                                      <p:cBhvr>
                                        <p:cTn id="57" dur="600" fill="hold" decel="6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kicker"/>
          <p:cNvSpPr txBox="1"/>
          <p:nvPr/>
        </p:nvSpPr>
        <p:spPr>
          <a:xfrm>
            <a:off x="777240" y="64008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DE GRÁFICO</a:t>
            </a:r>
            <a:endParaRPr lang="en-US" sz="1400" dirty="0"/>
          </a:p>
        </p:txBody>
      </p:sp>
      <p:sp>
        <p:nvSpPr>
          <p:cNvPr id="3" name="s4_titulo"/>
          <p:cNvSpPr txBox="1"/>
          <p:nvPr/>
        </p:nvSpPr>
        <p:spPr>
          <a:xfrm>
            <a:off x="777240" y="96012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spc="-60" kern="0" dirty="0">
                <a:solidFill>
                  <a:srgbClr val="F8FAF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Serie de datos de muestra</a:t>
            </a:r>
            <a:endParaRPr lang="en-US" sz="4000" dirty="0"/>
          </a:p>
        </p:txBody>
      </p:sp>
      <p:graphicFrame>
        <p:nvGraphicFramePr>
          <p:cNvPr id="4" name="s4_grafico" descr=""/>
          <p:cNvGraphicFramePr/>
          <p:nvPr/>
        </p:nvGraphicFramePr>
        <p:xfrm>
          <a:off x="777240" y="2194560"/>
          <a:ext cx="6701446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4_panel"/>
          <p:cNvSpPr/>
          <p:nvPr/>
        </p:nvSpPr>
        <p:spPr>
          <a:xfrm>
            <a:off x="7844446" y="2468880"/>
            <a:ext cx="3570010" cy="2377440"/>
          </a:xfrm>
          <a:prstGeom prst="roundRect">
            <a:avLst>
              <a:gd name="adj" fmla="val 10769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s4_conclusion"/>
          <p:cNvSpPr txBox="1"/>
          <p:nvPr/>
        </p:nvSpPr>
        <p:spPr>
          <a:xfrm>
            <a:off x="8118766" y="2697480"/>
            <a:ext cx="302137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gráficos entran como objetos nativos, con sus datos editables.</a:t>
            </a:r>
            <a:endParaRPr lang="en-US" sz="2000" dirty="0"/>
          </a:p>
        </p:txBody>
      </p:sp>
      <p:sp>
        <p:nvSpPr>
          <p:cNvPr id="7" name="s4_num"/>
          <p:cNvSpPr txBox="1"/>
          <p:nvPr/>
        </p:nvSpPr>
        <p:spPr>
          <a:xfrm>
            <a:off x="114144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8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advTm="0" p14:dur="1200">
        <p159:morph option="byObject"/>
      </p:transition>
    </mc:Choice>
    <mc:Fallback>
      <p:transition spd="slow" advTm="0">
        <p:fade/>
      </p:transition>
    </mc:Fallback>
  </mc:AlternateContent>
  <p:timing>
    <p:tnLst>
      <p:par>
        <p:cTn id="17" nodeType="tmRoot" restart="never">
          <p:childTnLst>
            <p:seq concurrent="1" nextAc="seek">
              <p:cTn id="18" nodeType="mainSeq" restart="whenNotActive">
                <p:childTnLst>
                  <p:par>
                    <p:cTn id="19" fill="hold"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after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 animBg="1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_kicker"/>
          <p:cNvSpPr txBox="1"/>
          <p:nvPr/>
        </p:nvSpPr>
        <p:spPr>
          <a:xfrm>
            <a:off x="777240" y="640080"/>
            <a:ext cx="10637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DE SECUENCIA</a:t>
            </a:r>
            <a:endParaRPr lang="en-US" sz="1400" dirty="0"/>
          </a:p>
        </p:txBody>
      </p:sp>
      <p:sp>
        <p:nvSpPr>
          <p:cNvPr id="3" name="s5_titulo"/>
          <p:cNvSpPr txBox="1"/>
          <p:nvPr/>
        </p:nvSpPr>
        <p:spPr>
          <a:xfrm>
            <a:off x="777240" y="96012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spc="-60" kern="0" dirty="0">
                <a:solidFill>
                  <a:srgbClr val="F8FAF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Las fases del flujo</a:t>
            </a:r>
            <a:endParaRPr lang="en-US" sz="4000" dirty="0"/>
          </a:p>
        </p:txBody>
      </p:sp>
      <p:sp>
        <p:nvSpPr>
          <p:cNvPr id="4" name="s5_paso0_circulo"/>
          <p:cNvSpPr/>
          <p:nvPr/>
        </p:nvSpPr>
        <p:spPr>
          <a:xfrm>
            <a:off x="1622260" y="2377440"/>
            <a:ext cx="694944" cy="69494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5" name="s5_paso0_num"/>
          <p:cNvSpPr txBox="1"/>
          <p:nvPr/>
        </p:nvSpPr>
        <p:spPr>
          <a:xfrm>
            <a:off x="1622260" y="23774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s5_paso0_linea"/>
          <p:cNvSpPr/>
          <p:nvPr/>
        </p:nvSpPr>
        <p:spPr>
          <a:xfrm>
            <a:off x="2353780" y="2724912"/>
            <a:ext cx="1982648" cy="0"/>
          </a:xfrm>
          <a:prstGeom prst="line">
            <a:avLst/>
          </a:prstGeom>
          <a:noFill/>
          <a:ln w="25400">
            <a:solidFill>
              <a:srgbClr val="2E4162"/>
            </a:solidFill>
            <a:prstDash val="sysDot"/>
          </a:ln>
        </p:spPr>
      </p:sp>
      <p:sp>
        <p:nvSpPr>
          <p:cNvPr id="7" name="s5_paso0_titulo"/>
          <p:cNvSpPr txBox="1"/>
          <p:nvPr/>
        </p:nvSpPr>
        <p:spPr>
          <a:xfrm>
            <a:off x="777240" y="32918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Ingesta</a:t>
            </a:r>
            <a:endParaRPr lang="en-US" sz="1900" dirty="0"/>
          </a:p>
        </p:txBody>
      </p:sp>
      <p:sp>
        <p:nvSpPr>
          <p:cNvPr id="8" name="s5_paso0_texto"/>
          <p:cNvSpPr txBox="1"/>
          <p:nvPr/>
        </p:nvSpPr>
        <p:spPr>
          <a:xfrm>
            <a:off x="777240" y="38404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lee el documento y se mapea.</a:t>
            </a:r>
            <a:endParaRPr lang="en-US" sz="1600" dirty="0"/>
          </a:p>
        </p:txBody>
      </p:sp>
      <p:sp>
        <p:nvSpPr>
          <p:cNvPr id="9" name="s5_paso1_circulo"/>
          <p:cNvSpPr/>
          <p:nvPr/>
        </p:nvSpPr>
        <p:spPr>
          <a:xfrm>
            <a:off x="4373004" y="2377440"/>
            <a:ext cx="694944" cy="69494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s5_paso1_num"/>
          <p:cNvSpPr txBox="1"/>
          <p:nvPr/>
        </p:nvSpPr>
        <p:spPr>
          <a:xfrm>
            <a:off x="4373004" y="23774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s5_paso1_linea"/>
          <p:cNvSpPr/>
          <p:nvPr/>
        </p:nvSpPr>
        <p:spPr>
          <a:xfrm>
            <a:off x="5104524" y="2724912"/>
            <a:ext cx="1982648" cy="0"/>
          </a:xfrm>
          <a:prstGeom prst="line">
            <a:avLst/>
          </a:prstGeom>
          <a:noFill/>
          <a:ln w="25400">
            <a:solidFill>
              <a:srgbClr val="2E4162"/>
            </a:solidFill>
            <a:prstDash val="sysDot"/>
          </a:ln>
        </p:spPr>
      </p:sp>
      <p:sp>
        <p:nvSpPr>
          <p:cNvPr id="12" name="s5_paso1_titulo"/>
          <p:cNvSpPr txBox="1"/>
          <p:nvPr/>
        </p:nvSpPr>
        <p:spPr>
          <a:xfrm>
            <a:off x="3527984" y="32918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Selección</a:t>
            </a:r>
            <a:endParaRPr lang="en-US" sz="1900" dirty="0"/>
          </a:p>
        </p:txBody>
      </p:sp>
      <p:sp>
        <p:nvSpPr>
          <p:cNvPr id="13" name="s5_paso1_texto"/>
          <p:cNvSpPr txBox="1"/>
          <p:nvPr/>
        </p:nvSpPr>
        <p:spPr>
          <a:xfrm>
            <a:off x="3527984" y="38404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usuario elige qué entra.</a:t>
            </a:r>
            <a:endParaRPr lang="en-US" sz="1600" dirty="0"/>
          </a:p>
        </p:txBody>
      </p:sp>
      <p:sp>
        <p:nvSpPr>
          <p:cNvPr id="14" name="s5_paso2_circulo"/>
          <p:cNvSpPr/>
          <p:nvPr/>
        </p:nvSpPr>
        <p:spPr>
          <a:xfrm>
            <a:off x="7123747" y="2377440"/>
            <a:ext cx="694944" cy="69494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5" name="s5_paso2_num"/>
          <p:cNvSpPr txBox="1"/>
          <p:nvPr/>
        </p:nvSpPr>
        <p:spPr>
          <a:xfrm>
            <a:off x="7123747" y="23774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s5_paso2_linea"/>
          <p:cNvSpPr/>
          <p:nvPr/>
        </p:nvSpPr>
        <p:spPr>
          <a:xfrm>
            <a:off x="7855267" y="2724912"/>
            <a:ext cx="1982648" cy="0"/>
          </a:xfrm>
          <a:prstGeom prst="line">
            <a:avLst/>
          </a:prstGeom>
          <a:noFill/>
          <a:ln w="25400">
            <a:solidFill>
              <a:srgbClr val="2E4162"/>
            </a:solidFill>
            <a:prstDash val="sysDot"/>
          </a:ln>
        </p:spPr>
      </p:sp>
      <p:sp>
        <p:nvSpPr>
          <p:cNvPr id="17" name="s5_paso2_titulo"/>
          <p:cNvSpPr txBox="1"/>
          <p:nvPr/>
        </p:nvSpPr>
        <p:spPr>
          <a:xfrm>
            <a:off x="6278728" y="32918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Diseño</a:t>
            </a:r>
            <a:endParaRPr lang="en-US" sz="1900" dirty="0"/>
          </a:p>
        </p:txBody>
      </p:sp>
      <p:sp>
        <p:nvSpPr>
          <p:cNvPr id="18" name="s5_paso2_texto"/>
          <p:cNvSpPr txBox="1"/>
          <p:nvPr/>
        </p:nvSpPr>
        <p:spPr>
          <a:xfrm>
            <a:off x="6278728" y="38404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arma el deck por arquetipos.</a:t>
            </a:r>
            <a:endParaRPr lang="en-US" sz="1600" dirty="0"/>
          </a:p>
        </p:txBody>
      </p:sp>
      <p:sp>
        <p:nvSpPr>
          <p:cNvPr id="19" name="s5_paso3_circulo"/>
          <p:cNvSpPr/>
          <p:nvPr/>
        </p:nvSpPr>
        <p:spPr>
          <a:xfrm>
            <a:off x="9874491" y="2377440"/>
            <a:ext cx="694944" cy="6949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s5_paso3_num"/>
          <p:cNvSpPr txBox="1"/>
          <p:nvPr/>
        </p:nvSpPr>
        <p:spPr>
          <a:xfrm>
            <a:off x="9874491" y="23774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s5_paso3_titulo"/>
          <p:cNvSpPr txBox="1"/>
          <p:nvPr/>
        </p:nvSpPr>
        <p:spPr>
          <a:xfrm>
            <a:off x="9029471" y="3291840"/>
            <a:ext cx="2384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9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Animación</a:t>
            </a:r>
            <a:endParaRPr lang="en-US" sz="1900" dirty="0"/>
          </a:p>
        </p:txBody>
      </p:sp>
      <p:sp>
        <p:nvSpPr>
          <p:cNvPr id="22" name="s5_paso3_texto"/>
          <p:cNvSpPr txBox="1"/>
          <p:nvPr/>
        </p:nvSpPr>
        <p:spPr>
          <a:xfrm>
            <a:off x="9029471" y="3840480"/>
            <a:ext cx="2384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inyectan los efectos.</a:t>
            </a:r>
            <a:endParaRPr lang="en-US" sz="1600" dirty="0"/>
          </a:p>
        </p:txBody>
      </p:sp>
      <p:sp>
        <p:nvSpPr>
          <p:cNvPr id="23" name="s5_num"/>
          <p:cNvSpPr txBox="1"/>
          <p:nvPr/>
        </p:nvSpPr>
        <p:spPr>
          <a:xfrm>
            <a:off x="1141445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80" kern="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  <p:transition spd="med" advTm="0">
    <p:wipe dir="l"/>
  </p:transition>
  <p:timing>
    <p:tnLst>
      <p:par>
        <p:cTn id="56" nodeType="tmRoot" restart="never">
          <p:childTnLst>
            <p:seq concurrent="1" nextAc="seek">
              <p:cTn id="57" nodeType="mainSeq" restart="whenNotActive">
                <p:childTnLst>
                  <p:par>
                    <p:cTn id="58" fill="hold"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" presetID="1" presetClass="entr" presetSubtype="0" fill="hold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after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after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after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after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8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after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1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after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24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after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27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after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0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after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after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36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after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39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after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42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after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45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8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after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51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 fill="hold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after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54" dur="1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 fill="hold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_titulo"/>
          <p:cNvSpPr txBox="1"/>
          <p:nvPr/>
        </p:nvSpPr>
        <p:spPr>
          <a:xfrm>
            <a:off x="777240" y="2194560"/>
            <a:ext cx="106372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800"/>
              </a:lnSpc>
              <a:buNone/>
            </a:pPr>
            <a:r>
              <a:rPr lang="en-US" sz="6000" b="1" spc="-120" kern="0" dirty="0">
                <a:solidFill>
                  <a:srgbClr val="F8FAFC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Fin de la demostración</a:t>
            </a:r>
            <a:endParaRPr lang="en-US" sz="6000" dirty="0"/>
          </a:p>
        </p:txBody>
      </p:sp>
      <p:sp>
        <p:nvSpPr>
          <p:cNvPr id="3" name="s6_subtitulo"/>
          <p:cNvSpPr txBox="1"/>
          <p:nvPr/>
        </p:nvSpPr>
        <p:spPr>
          <a:xfrm>
            <a:off x="2148840" y="3749040"/>
            <a:ext cx="7894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Todos los elementos siguen siendo editables tras la importación</a:t>
            </a:r>
            <a:endParaRPr lang="en-US" sz="2400" dirty="0"/>
          </a:p>
        </p:txBody>
      </p:sp>
      <p:sp>
        <p:nvSpPr>
          <p:cNvPr id="4" name="s6_cta_caja"/>
          <p:cNvSpPr/>
          <p:nvPr/>
        </p:nvSpPr>
        <p:spPr>
          <a:xfrm>
            <a:off x="4267048" y="4846320"/>
            <a:ext cx="3657600" cy="6400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5" name="s6_cta"/>
          <p:cNvSpPr txBox="1"/>
          <p:nvPr/>
        </p:nvSpPr>
        <p:spPr>
          <a:xfrm>
            <a:off x="4267048" y="4846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80" kern="0" dirty="0">
                <a:solidFill>
                  <a:srgbClr val="0B11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Prueba completa</a:t>
            </a:r>
            <a:endParaRPr lang="en-US" sz="1300" dirty="0"/>
          </a:p>
        </p:txBody>
      </p:sp>
    </p:spTree>
  </p:cSld>
  <p:clrMapOvr>
    <a:masterClrMapping/>
  </p:clrMapOvr>
  <p:transition spd="med" advTm="0">
    <p:fade/>
  </p:transition>
  <p:timing>
    <p:tnLst>
      <p:par>
        <p:cTn id="18" nodeType="tmRoot" restart="never">
          <p:childTnLst>
            <p:seq concurrent="1" nextAc="seek">
              <p:cTn id="19" nodeType="mainSeq" restart="whenNotActive">
                <p:childTnLst>
                  <p:par>
                    <p:cTn id="20" fill="hold"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 fill="hold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" dur="500" fill="hold" decel="50000"/>
                                        <p:tgtEl>
                                          <p:spTgt spid="2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" presetID="1" presetClass="entr" presetSubtype="0" fill="hold" nodeType="after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500" fill="hold" decel="50000"/>
                                        <p:tgtEl>
                                          <p:spTgt spid="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after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500" fill="hold" decel="50000"/>
                                        <p:tgtEl>
                                          <p:spTgt spid="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afterEffect">
                                  <p:stCondLst>
                                    <p:cond delay="720"/>
                                  </p:stCondLst>
                                  <p:childTnLst>
                                    <p:set>
                                      <p:cBhvr>
                                        <p:cTn id="15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500" fill="hold" decel="50000"/>
                                        <p:tgtEl>
                                          <p:spTgt spid="5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de demostración</dc:title>
  <dc:subject>Prueba técnica de la skill slides-alto-impacto</dc:subject>
  <dc:creator/>
  <cp:lastModifiedBy/>
  <cp:revision>1</cp:revision>
  <dcterms:created xsi:type="dcterms:W3CDTF">2026-08-31T20:51:49Z</dcterms:created>
  <dcterms:modified xsi:type="dcterms:W3CDTF">2026-08-31T20:51:49Z</dcterms:modified>
</cp:coreProperties>
</file>